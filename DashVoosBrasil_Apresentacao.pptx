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69164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spc="1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DASHVOOSBRASIL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658368" y="2697480"/>
            <a:ext cx="7040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coleta bruta à decisão: 3 milhões de voos da aviação brasileira em dois painéis interativos.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58368" y="36576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Projeto Final · Banco de Dados Avançado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58368" y="521208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FC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Caio Adamo Scomparin   ·   Rafael Tamura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FC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Fábio Su Li   ·   Henrique Zaccarias Martelini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092440" y="1143000"/>
            <a:ext cx="3657600" cy="457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A2342">
                <a:alpha val="16000"/>
              </a:srgbClr>
            </a:outerShdw>
          </a:effectLst>
        </p:spPr>
      </p:sp>
      <p:pic>
        <p:nvPicPr>
          <p:cNvPr id="8" name="Image 0" descr="assets/map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689234"/>
            <a:ext cx="3383280" cy="320521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183880" y="52852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malha aérea nacional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56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desafio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21208" y="155448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ANAC publica, mês a mês, o registro de </a:t>
            </a:r>
            <a:pPr indent="0" marL="0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voos comerciais do Brasil</a:t>
            </a:r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É um tesouro de informação — mas chega </a:t>
            </a:r>
            <a:pPr indent="0" marL="0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bruto, gigante e desorganizado</a:t>
            </a:r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acentos quebrados, códigos em vez de nomes, dados faltando.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21208" y="32004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Nosso objetivo: transformar esse dado bruto em informação que qualquer pessoa consiga explorar e entender.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0" y="1554480"/>
            <a:ext cx="210312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14300" dist="38100" dir="8100000">
              <a:srgbClr val="0A2342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6114" y="1554480"/>
            <a:ext cx="82296" cy="132588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0" y="1664208"/>
            <a:ext cx="1828800" cy="689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96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3,07 mi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7498080" y="2283714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voos analisados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601200" y="1554480"/>
            <a:ext cx="210312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14300" dist="38100" dir="8100000">
              <a:srgbClr val="0A2342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602114" y="1554480"/>
            <a:ext cx="82296" cy="1325880"/>
          </a:xfrm>
          <a:prstGeom prst="rect">
            <a:avLst/>
          </a:prstGeom>
          <a:solidFill>
            <a:srgbClr val="1FA37C"/>
          </a:solidFill>
          <a:ln/>
        </p:spPr>
      </p:sp>
      <p:sp>
        <p:nvSpPr>
          <p:cNvPr id="12" name="Text 10"/>
          <p:cNvSpPr/>
          <p:nvPr/>
        </p:nvSpPr>
        <p:spPr>
          <a:xfrm>
            <a:off x="9784080" y="1664208"/>
            <a:ext cx="1828800" cy="689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A37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490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9784080" y="2283714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aeroportos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315200" y="3063240"/>
            <a:ext cx="210312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14300" dist="38100" dir="8100000">
              <a:srgbClr val="0A2342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6114" y="3063240"/>
            <a:ext cx="82296" cy="1325880"/>
          </a:xfrm>
          <a:prstGeom prst="rect">
            <a:avLst/>
          </a:prstGeom>
          <a:solidFill>
            <a:srgbClr val="E8563A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0" y="3172968"/>
            <a:ext cx="1828800" cy="689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856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150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7498080" y="3792474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companhias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601200" y="3063240"/>
            <a:ext cx="210312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14300" dist="38100" dir="8100000">
              <a:srgbClr val="0A2342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602114" y="3063240"/>
            <a:ext cx="82296" cy="132588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0" name="Text 18"/>
          <p:cNvSpPr/>
          <p:nvPr/>
        </p:nvSpPr>
        <p:spPr>
          <a:xfrm>
            <a:off x="9784080" y="3172968"/>
            <a:ext cx="1828800" cy="689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2A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2022–25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9784080" y="3792474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 coberto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21208" y="4572000"/>
            <a:ext cx="11155680" cy="1417320"/>
          </a:xfrm>
          <a:prstGeom prst="roundRect">
            <a:avLst>
              <a:gd name="adj" fmla="val 5161"/>
            </a:avLst>
          </a:prstGeom>
          <a:solidFill>
            <a:srgbClr val="F2F6FB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473659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 que isso é um projeto de Banco de Dados?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1520" y="5102352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 o coração do trabalho é o ciclo do dado — coletar, limpar, integrar, transformar e disponibilizar de forma rápida e confiável. O painel é só a ponta visível de todo esse processo.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DashVoosBrasil · Banco de Dados Avançado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196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VISÃO GERAL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solução: dois painéis sobre um mesmo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21208" y="1508760"/>
            <a:ext cx="3246120" cy="41605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14300" dist="38100" dir="8100000">
              <a:srgbClr val="0A2342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22122" y="1508760"/>
            <a:ext cx="3246120" cy="109728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7373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Painel Executivo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49808" y="21488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visão de diretoria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49808" y="2606040"/>
            <a:ext cx="2880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indicadores com variação ano a ano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da malha aérea do país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Concentração de mercado e frota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em 5 segundos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950208" y="1508760"/>
            <a:ext cx="3246120" cy="41605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14300" dist="38100" dir="8100000">
              <a:srgbClr val="0A2342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951122" y="1508760"/>
            <a:ext cx="3246120" cy="109728"/>
          </a:xfrm>
          <a:prstGeom prst="rect">
            <a:avLst/>
          </a:prstGeom>
          <a:solidFill>
            <a:srgbClr val="E8563A"/>
          </a:solidFill>
          <a:ln/>
        </p:spPr>
      </p:sp>
      <p:sp>
        <p:nvSpPr>
          <p:cNvPr id="11" name="Text 9"/>
          <p:cNvSpPr/>
          <p:nvPr/>
        </p:nvSpPr>
        <p:spPr>
          <a:xfrm>
            <a:off x="4178808" y="17373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Painel de Exploração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178808" y="21488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5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painel do analista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78808" y="2606040"/>
            <a:ext cx="2880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abas temáticas e filtros encadeados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Pontualidade, frota, tarifas, geografia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 de curiosidades e correlações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com download em CSV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543800" y="1508760"/>
            <a:ext cx="4160520" cy="4160520"/>
          </a:xfrm>
          <a:prstGeom prst="roundRect">
            <a:avLst>
              <a:gd name="adj" fmla="val 2198"/>
            </a:avLst>
          </a:prstGeom>
          <a:solidFill>
            <a:srgbClr val="F2F6FB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26680" y="16642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Mesmo dado, perguntas diferentes</a:t>
            </a:r>
            <a:endParaRPr lang="en-US" sz="1350" dirty="0"/>
          </a:p>
        </p:txBody>
      </p:sp>
      <p:pic>
        <p:nvPicPr>
          <p:cNvPr id="16" name="Image 0" descr="assets/evoluca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2866390"/>
            <a:ext cx="3886200" cy="185674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DashVoosBrasil · Banco de Dados Avançado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196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ARQUITETURA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Pense em um restaurante: cada arquivo, uma estação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66928" cy="566928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25880" y="155448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entregador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25880" y="190195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96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coleta_dados.py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663440" y="1572768"/>
            <a:ext cx="6949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Robô que baixa os dados da ANAC automaticamente (com nova tentativa e cache).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566928" cy="566928"/>
          </a:xfrm>
          <a:prstGeom prst="ellipse">
            <a:avLst/>
          </a:prstGeom>
          <a:solidFill>
            <a:srgbClr val="1FA37C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468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25880" y="242316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faxina e o preparo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25880" y="277063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A3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prepara_dados.py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663440" y="2441448"/>
            <a:ext cx="6949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Limpa, padroniza, junta os arquivos e calcula atraso, rota, região...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337560"/>
            <a:ext cx="566928" cy="566928"/>
          </a:xfrm>
          <a:prstGeom prst="ellipse">
            <a:avLst/>
          </a:prstGeom>
          <a:solidFill>
            <a:srgbClr val="E8563A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337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325880" y="32918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despensa inteligente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25880" y="363931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5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lib_dados.py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663440" y="3310128"/>
            <a:ext cx="6949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Enriquece os dados e os guarda prontos para uso instantâneo (cache).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206240"/>
            <a:ext cx="566928" cy="566928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206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325880" y="41605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prato executivo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25880" y="450799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dashboard_visao_geral.py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663440" y="4178808"/>
            <a:ext cx="6949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resumido — a visão estratégica do setor.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5074920"/>
            <a:ext cx="566928" cy="566928"/>
          </a:xfrm>
          <a:prstGeom prst="ellipse">
            <a:avLst/>
          </a:prstGeom>
          <a:solidFill>
            <a:srgbClr val="00ACC1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5074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325880" y="502920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prato de degustação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325880" y="537667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AC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dashboard_exploratorio.py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663440" y="5047488"/>
            <a:ext cx="6949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detalhado — 8 abas para explorar a fundo.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Princípio: separação de responsabilidades — cada arquivo faz uma coisa só, e bem feita.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DashVoosBrasil · Banco de Dados Avançado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56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ENGENHARIA DE DADOS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sacada: fazer o trabalho pesado uma vez só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21208" y="1600200"/>
            <a:ext cx="352044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14300" dist="38100" dir="8100000">
              <a:srgbClr val="0A2342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22122" y="1600200"/>
            <a:ext cx="82296" cy="146304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6" name="Text 4"/>
          <p:cNvSpPr/>
          <p:nvPr/>
        </p:nvSpPr>
        <p:spPr>
          <a:xfrm>
            <a:off x="704088" y="1709928"/>
            <a:ext cx="3246120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96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33 s → 0,3 s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04088" y="2404872"/>
            <a:ext cx="3200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para abrir cada painel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24528" y="1600200"/>
            <a:ext cx="352044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14300" dist="38100" dir="8100000">
              <a:srgbClr val="0A2342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225442" y="1600200"/>
            <a:ext cx="82296" cy="1463040"/>
          </a:xfrm>
          <a:prstGeom prst="rect">
            <a:avLst/>
          </a:prstGeom>
          <a:solidFill>
            <a:srgbClr val="1FA37C"/>
          </a:solidFill>
          <a:ln/>
        </p:spPr>
      </p:sp>
      <p:sp>
        <p:nvSpPr>
          <p:cNvPr id="10" name="Text 8"/>
          <p:cNvSpPr/>
          <p:nvPr/>
        </p:nvSpPr>
        <p:spPr>
          <a:xfrm>
            <a:off x="4407408" y="1709928"/>
            <a:ext cx="3246120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A37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2,6 GB → 0,7 GB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4407408" y="2404872"/>
            <a:ext cx="3200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memória usada (−72%)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927848" y="1600200"/>
            <a:ext cx="374904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14300" dist="38100" dir="8100000">
              <a:srgbClr val="0A2342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928762" y="1600200"/>
            <a:ext cx="82296" cy="1463040"/>
          </a:xfrm>
          <a:prstGeom prst="rect">
            <a:avLst/>
          </a:prstGeom>
          <a:solidFill>
            <a:srgbClr val="E8563A"/>
          </a:solidFill>
          <a:ln/>
        </p:spPr>
      </p:sp>
      <p:sp>
        <p:nvSpPr>
          <p:cNvPr id="14" name="Text 12"/>
          <p:cNvSpPr/>
          <p:nvPr/>
        </p:nvSpPr>
        <p:spPr>
          <a:xfrm>
            <a:off x="8110728" y="1709928"/>
            <a:ext cx="3474720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856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+100×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8110728" y="2404872"/>
            <a:ext cx="3429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rápido que ler o arquivo original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21208" y="3337560"/>
            <a:ext cx="5486400" cy="2651760"/>
          </a:xfrm>
          <a:prstGeom prst="roundRect">
            <a:avLst>
              <a:gd name="adj" fmla="val 2759"/>
            </a:avLst>
          </a:prstGeom>
          <a:solidFill>
            <a:srgbClr val="F2F6FB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49300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Como?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31520" y="3886200"/>
            <a:ext cx="5074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arquivo original tem 3 milhões de linhas e pesa mais de 1 GB. Em vez de relê-lo a cada vez, processamos </a:t>
            </a:r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única vez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salvamos uma versão compacta e otimizada (formato </a:t>
            </a:r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 Os painéis passam a abrir essa versão pronta — como uma despensa com tudo já picado e temperado.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190488" y="3337560"/>
            <a:ext cx="5486400" cy="2651760"/>
          </a:xfrm>
          <a:prstGeom prst="roundRect">
            <a:avLst>
              <a:gd name="adj" fmla="val 2759"/>
            </a:avLst>
          </a:prstGeom>
          <a:solidFill>
            <a:srgbClr val="EAF2FB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349300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 um detalhe que integra duas bases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00800" y="3886200"/>
            <a:ext cx="5074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voos identificam aeroportos por um código (ICAO: </a:t>
            </a:r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SBGR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e as tarifas por outro (IATA: </a:t>
            </a:r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GRU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 Sem tradução, as bases não conversam. Criamos a </a:t>
            </a:r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ponte ICAO ↔ IATA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 permite cruzar voos e preços por rota.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DashVoosBrasil · Banco de Dados Avançado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196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 1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Painel Executivo — a leitura de 5 segundos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21208" y="1600200"/>
            <a:ext cx="54864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indicadores-chave com a variação em relação ao ano anterior (a seta verde/vermelha).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da malha aérea: aeroportos como bolhas, rotas como linhas.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Concentração de mercado por grupo, com o índice HHI.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de hubs, mix de frota e pontualidade por companhia.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recalcula ao trocar o ano ou o segmento.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355080" y="1554480"/>
            <a:ext cx="534924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14300" dist="38100" dir="8100000">
              <a:srgbClr val="0A234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537960" y="1691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Concentração de mercado (Azul + LATAM + Gol = 86%)</a:t>
            </a:r>
            <a:endParaRPr lang="en-US" sz="1200" dirty="0"/>
          </a:p>
        </p:txBody>
      </p:sp>
      <p:pic>
        <p:nvPicPr>
          <p:cNvPr id="7" name="Image 0" descr="assets/sh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70548" y="2103120"/>
            <a:ext cx="4918305" cy="3611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DashVoosBrasil · Banco de Dados Avançado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196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 2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Painel de Exploração — 8 abas para investigar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21208" y="1600200"/>
            <a:ext cx="2651760" cy="841248"/>
          </a:xfrm>
          <a:prstGeom prst="roundRect">
            <a:avLst>
              <a:gd name="adj" fmla="val 7609"/>
            </a:avLst>
          </a:prstGeom>
          <a:solidFill>
            <a:srgbClr val="F2F6FB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70992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Visão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20299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rotas e volume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10128" y="1600200"/>
            <a:ext cx="2651760" cy="841248"/>
          </a:xfrm>
          <a:prstGeom prst="roundRect">
            <a:avLst>
              <a:gd name="adj" fmla="val 7609"/>
            </a:avLst>
          </a:prstGeom>
          <a:solidFill>
            <a:srgbClr val="F2F6FB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170992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Pontualidade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474720" y="20299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e por que atrasa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21208" y="2578608"/>
            <a:ext cx="2651760" cy="841248"/>
          </a:xfrm>
          <a:prstGeom prst="roundRect">
            <a:avLst>
              <a:gd name="adj" fmla="val 7609"/>
            </a:avLst>
          </a:prstGeom>
          <a:solidFill>
            <a:srgbClr val="F2F6FB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68833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Frota &amp; Capacidade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85800" y="300837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aviões e assentos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10128" y="2578608"/>
            <a:ext cx="2651760" cy="841248"/>
          </a:xfrm>
          <a:prstGeom prst="roundRect">
            <a:avLst>
              <a:gd name="adj" fmla="val 7609"/>
            </a:avLst>
          </a:prstGeom>
          <a:solidFill>
            <a:srgbClr val="F2F6FB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0" y="268833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Malha &amp; Geografia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474720" y="300837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e fluxos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21208" y="3557016"/>
            <a:ext cx="2651760" cy="841248"/>
          </a:xfrm>
          <a:prstGeom prst="roundRect">
            <a:avLst>
              <a:gd name="adj" fmla="val 7609"/>
            </a:avLst>
          </a:prstGeom>
          <a:solidFill>
            <a:srgbClr val="F2F6FB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66674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Tarifas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85800" y="39867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preços por rota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10128" y="3557016"/>
            <a:ext cx="2651760" cy="841248"/>
          </a:xfrm>
          <a:prstGeom prst="roundRect">
            <a:avLst>
              <a:gd name="adj" fmla="val 7609"/>
            </a:avLst>
          </a:prstGeom>
          <a:solidFill>
            <a:srgbClr val="F2F6FB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366674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Curiosidades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3474720" y="39867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correlações e fatos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21208" y="4535424"/>
            <a:ext cx="2651760" cy="841248"/>
          </a:xfrm>
          <a:prstGeom prst="roundRect">
            <a:avLst>
              <a:gd name="adj" fmla="val 7609"/>
            </a:avLst>
          </a:prstGeom>
          <a:solidFill>
            <a:srgbClr val="F2F6FB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464515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Comparativo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85800" y="49651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seu gráfico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310128" y="4535424"/>
            <a:ext cx="2651760" cy="841248"/>
          </a:xfrm>
          <a:prstGeom prst="roundRect">
            <a:avLst>
              <a:gd name="adj" fmla="val 7609"/>
            </a:avLst>
          </a:prstGeom>
          <a:solidFill>
            <a:srgbClr val="F2F6FB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464515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Tabela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3474720" y="49651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crus + download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355080" y="1554480"/>
            <a:ext cx="534924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14300" dist="38100" dir="8100000">
              <a:srgbClr val="0A2342">
                <a:alpha val="16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537960" y="1691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os aeroportos mais movimentados</a:t>
            </a:r>
            <a:endParaRPr lang="en-US" sz="1200" dirty="0"/>
          </a:p>
        </p:txBody>
      </p:sp>
      <p:pic>
        <p:nvPicPr>
          <p:cNvPr id="30" name="Image 0" descr="assets/hub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2466474"/>
            <a:ext cx="4983480" cy="2885173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DashVoosBrasil · Banco de Dados Avançado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56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RESULTADOS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Insights que saltam dos dados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21208" y="1554480"/>
            <a:ext cx="269748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14300" dist="38100" dir="8100000">
              <a:srgbClr val="0A2342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22122" y="1554480"/>
            <a:ext cx="82296" cy="1280160"/>
          </a:xfrm>
          <a:prstGeom prst="rect">
            <a:avLst/>
          </a:prstGeom>
          <a:solidFill>
            <a:srgbClr val="E8563A"/>
          </a:solidFill>
          <a:ln/>
        </p:spPr>
      </p:sp>
      <p:sp>
        <p:nvSpPr>
          <p:cNvPr id="6" name="Text 4"/>
          <p:cNvSpPr/>
          <p:nvPr/>
        </p:nvSpPr>
        <p:spPr>
          <a:xfrm>
            <a:off x="704088" y="1664208"/>
            <a:ext cx="2423160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856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2,5×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04088" y="2258568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voos da noite atrasam mais que os da manhã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55848" y="1554480"/>
            <a:ext cx="269748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14300" dist="38100" dir="8100000">
              <a:srgbClr val="0A2342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56762" y="1554480"/>
            <a:ext cx="82296" cy="128016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0" name="Text 8"/>
          <p:cNvSpPr/>
          <p:nvPr/>
        </p:nvSpPr>
        <p:spPr>
          <a:xfrm>
            <a:off x="3538728" y="1664208"/>
            <a:ext cx="2423160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2A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18×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3538728" y="2258568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km de um voo curto custa mais que o de um longo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21208" y="3017520"/>
            <a:ext cx="553212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14300" dist="38100" dir="8100000">
              <a:srgbClr val="0A2342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5800" y="312724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por km despenca com a distância</a:t>
            </a:r>
            <a:endParaRPr lang="en-US" sz="1200" dirty="0"/>
          </a:p>
        </p:txBody>
      </p:sp>
      <p:pic>
        <p:nvPicPr>
          <p:cNvPr id="14" name="Image 0" descr="assets/rk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4534" y="3520440"/>
            <a:ext cx="3674612" cy="219456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6263640" y="1554480"/>
            <a:ext cx="5440680" cy="4251960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14300" dist="38100" dir="8100000">
              <a:srgbClr val="0A2342">
                <a:alpha val="16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446520" y="16916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Êxodo Santos Dumont → Galeão (2024)</a:t>
            </a:r>
            <a:endParaRPr lang="en-US" sz="1200" dirty="0"/>
          </a:p>
        </p:txBody>
      </p:sp>
      <p:pic>
        <p:nvPicPr>
          <p:cNvPr id="17" name="Image 1" descr="assets/cres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450919"/>
            <a:ext cx="5212080" cy="2916283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DashVoosBrasil · Banco de Dados Avançado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56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RESULTADOS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Correlações: o que tem a ver com o quê?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21208" y="1554480"/>
            <a:ext cx="7589520" cy="43434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14300" dist="38100" dir="8100000">
              <a:srgbClr val="0A2342">
                <a:alpha val="16000"/>
              </a:srgbClr>
            </a:outerShdw>
          </a:effectLst>
        </p:spPr>
      </p:sp>
      <p:pic>
        <p:nvPicPr>
          <p:cNvPr id="5" name="Image 0" descr="assets/relaco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950114"/>
            <a:ext cx="7269480" cy="355213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275320" y="1554480"/>
            <a:ext cx="3429000" cy="4343400"/>
          </a:xfrm>
          <a:prstGeom prst="roundRect">
            <a:avLst>
              <a:gd name="adj" fmla="val 2133"/>
            </a:avLst>
          </a:prstGeom>
          <a:solidFill>
            <a:srgbClr val="EAF2FB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458200" y="1737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leitura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458200" y="2240280"/>
            <a:ext cx="31546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Traduzimos números abstratos em palavras: 'forte', 'fraca', 'quase nenhuma'.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sair e chegar atrasado têm relação quase perfeita.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grande descoberta: a distância do voo quase não influencia o atraso.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DashVoosBrasil · Banco de Dados Avançado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196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 DENTRO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Como tudo se atualiza sozinho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21208" y="201168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9050">
            <a:solidFill>
              <a:srgbClr val="2196F3"/>
            </a:solidFill>
            <a:prstDash val="solid"/>
          </a:ln>
          <a:effectLst>
            <a:outerShdw sx="100000" sy="100000" kx="0" ky="0" algn="bl" rotWithShape="0" blurRad="114300" dist="38100" dir="8100000">
              <a:srgbClr val="0A2342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58368" y="2121408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96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04088" y="26974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Você mexe num filtro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04088" y="32004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desmarca a Gol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063240" y="2286000"/>
            <a:ext cx="411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B6B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429000" y="201168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9050">
            <a:solidFill>
              <a:srgbClr val="1FA37C"/>
            </a:solidFill>
            <a:prstDash val="solid"/>
          </a:ln>
          <a:effectLst>
            <a:outerShdw sx="100000" sy="100000" kx="0" ky="0" algn="bl" rotWithShape="0" blurRad="114300" dist="38100" dir="8100000">
              <a:srgbClr val="0A234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66160" y="2121408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A37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611880" y="26974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função filtrar recorta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611880" y="32004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 só os voos pedidos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971032" y="2286000"/>
            <a:ext cx="411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B6B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6336792" y="201168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9050">
            <a:solidFill>
              <a:srgbClr val="F2A900"/>
            </a:solidFill>
            <a:prstDash val="solid"/>
          </a:ln>
          <a:effectLst>
            <a:outerShdw sx="100000" sy="100000" kx="0" ky="0" algn="bl" rotWithShape="0" blurRad="114300" dist="38100" dir="8100000">
              <a:srgbClr val="0A2342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73952" y="2121408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A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519672" y="26974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Os callbacks recalculam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519672" y="32004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refazem os gráficos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878824" y="2286000"/>
            <a:ext cx="411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B6B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9244584" y="201168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9050">
            <a:solidFill>
              <a:srgbClr val="E8563A"/>
            </a:solidFill>
            <a:prstDash val="solid"/>
          </a:ln>
          <a:effectLst>
            <a:outerShdw sx="100000" sy="100000" kx="0" ky="0" algn="bl" rotWithShape="0" blurRad="114300" dist="38100" dir="8100000">
              <a:srgbClr val="0A2342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381744" y="2121408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56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9427464" y="26974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tela se redesenha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9427464" y="32004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gráficos e textos novos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21208" y="4251960"/>
            <a:ext cx="11155680" cy="1554480"/>
          </a:xfrm>
          <a:prstGeom prst="roundRect">
            <a:avLst>
              <a:gd name="adj" fmla="val 4706"/>
            </a:avLst>
          </a:prstGeom>
          <a:solidFill>
            <a:srgbClr val="EAF2FB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40740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diferencial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31520" y="4773168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textos de insight e os cartões de curiosidades não são fixos: o sistema lê os próprios dados filtrados e escreve as conclusões na hora. Não é texto decorado — é o dado falando.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DashVoosBrasil · Banco de Dados Avançado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196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FERRAMENTAS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Tecnologias utilizadas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21208" y="1828800"/>
            <a:ext cx="35661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14300" dist="38100" dir="8100000">
              <a:srgbClr val="0A2342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22122" y="1828800"/>
            <a:ext cx="91440" cy="160020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6" name="Text 4"/>
          <p:cNvSpPr/>
          <p:nvPr/>
        </p:nvSpPr>
        <p:spPr>
          <a:xfrm>
            <a:off x="795528" y="21031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95528" y="269748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 base de todo o projeto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88536" y="1828800"/>
            <a:ext cx="35661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14300" dist="38100" dir="8100000">
              <a:srgbClr val="0A2342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289450" y="1828800"/>
            <a:ext cx="91440" cy="1600200"/>
          </a:xfrm>
          <a:prstGeom prst="rect">
            <a:avLst/>
          </a:prstGeom>
          <a:solidFill>
            <a:srgbClr val="1FA37C"/>
          </a:solidFill>
          <a:ln/>
        </p:spPr>
      </p:sp>
      <p:sp>
        <p:nvSpPr>
          <p:cNvPr id="10" name="Text 8"/>
          <p:cNvSpPr/>
          <p:nvPr/>
        </p:nvSpPr>
        <p:spPr>
          <a:xfrm>
            <a:off x="4562856" y="21031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pandas + NumPy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562856" y="269748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limpeza, integração e cálculos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55864" y="1828800"/>
            <a:ext cx="35661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14300" dist="38100" dir="8100000">
              <a:srgbClr val="0A2342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56778" y="1828800"/>
            <a:ext cx="91440" cy="1600200"/>
          </a:xfrm>
          <a:prstGeom prst="rect">
            <a:avLst/>
          </a:prstGeom>
          <a:solidFill>
            <a:srgbClr val="E8563A"/>
          </a:solidFill>
          <a:ln/>
        </p:spPr>
      </p:sp>
      <p:sp>
        <p:nvSpPr>
          <p:cNvPr id="14" name="Text 12"/>
          <p:cNvSpPr/>
          <p:nvPr/>
        </p:nvSpPr>
        <p:spPr>
          <a:xfrm>
            <a:off x="8330184" y="21031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Plotly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330184" y="269748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gráficos interativos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21208" y="3703320"/>
            <a:ext cx="35661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14300" dist="38100" dir="8100000">
              <a:srgbClr val="0A2342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22122" y="3703320"/>
            <a:ext cx="91440" cy="160020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8" name="Text 16"/>
          <p:cNvSpPr/>
          <p:nvPr/>
        </p:nvSpPr>
        <p:spPr>
          <a:xfrm>
            <a:off x="795528" y="39776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795528" y="457200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dos dois painéis web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288536" y="3703320"/>
            <a:ext cx="35661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14300" dist="38100" dir="8100000">
              <a:srgbClr val="0A2342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289450" y="3703320"/>
            <a:ext cx="91440" cy="1600200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22" name="Text 20"/>
          <p:cNvSpPr/>
          <p:nvPr/>
        </p:nvSpPr>
        <p:spPr>
          <a:xfrm>
            <a:off x="4562856" y="39776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PyArrow / Parquet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4562856" y="457200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cache que deixa tudo rápido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055864" y="3703320"/>
            <a:ext cx="35661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14300" dist="38100" dir="8100000">
              <a:srgbClr val="0A2342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56778" y="3703320"/>
            <a:ext cx="91440" cy="16002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6" name="Text 24"/>
          <p:cNvSpPr/>
          <p:nvPr/>
        </p:nvSpPr>
        <p:spPr>
          <a:xfrm>
            <a:off x="8330184" y="39776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requests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8330184" y="457200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robô coletor de dados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DashVoosBrasil · Banco de Dados Avançado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563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2A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CONCLUSÃO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10607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Não entregamos um gráfico.</a:t>
            </a:r>
            <a:endParaRPr lang="en-US" sz="3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Entregamos um caminho do dado bruto à decisão.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777240" y="3977640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2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completo: coleta, limpeza, enriquecimento e visualização.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real: cache 100× mais rápido e integração de duas bases.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que viram informação — correlações e curiosidades calculadas sozinhas.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61264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Obrigado!  ·  python dashboard_visao_geral.py (8050)  ·  python dashboard_exploratorio.py (8051)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DashVoosBrasil — Apresentação</dc:title>
  <dc:subject>PptxGenJS Presentation</dc:subject>
  <dc:creator>Equipe DashVoosBrasil</dc:creator>
  <cp:lastModifiedBy>Equipe DashVoosBrasil</cp:lastModifiedBy>
  <cp:revision>1</cp:revision>
  <dcterms:created xsi:type="dcterms:W3CDTF">2026-06-03T00:28:19Z</dcterms:created>
  <dcterms:modified xsi:type="dcterms:W3CDTF">2026-06-03T00:28:19Z</dcterms:modified>
</cp:coreProperties>
</file>